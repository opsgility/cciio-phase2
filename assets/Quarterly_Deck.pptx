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MITG / DMID Quarterly Program Review — Q3 FY26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Prepared for program leadership and the portfolio review board</a:t>
            </a:r>
          </a:p>
          <a:p>
            <a:pPr>
              <a:defRPr sz="1300"/>
            </a:pPr>
            <a:r>
              <a:t>• Covers MITG task order, DMID delivery order, modifications pipeline, obligations posture, compliance, staffing, and Q1 recompete readiness</a:t>
            </a:r>
          </a:p>
          <a:p>
            <a:pPr>
              <a:defRPr sz="1300"/>
            </a:pPr>
            <a:r>
              <a:t>• FICTIONAL training sample — slides are intentionally overcrowded so you can practice trimming with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Overall status GREEN trending YELLOW on MITG due to open Mod #14 and the compliance scope gap</a:t>
            </a:r>
          </a:p>
          <a:p>
            <a:pPr>
              <a:defRPr sz="1300"/>
            </a:pPr>
            <a:r>
              <a:t>• Near-term pressure point: OMB data call due Friday — Northwind portion still outstanding</a:t>
            </a:r>
          </a:p>
          <a:p>
            <a:pPr>
              <a:defRPr sz="1300"/>
            </a:pPr>
            <a:r>
              <a:t>• Audit kickoff at risk of a 1-2 week slip if the scope revision runs long</a:t>
            </a:r>
          </a:p>
          <a:p>
            <a:pPr>
              <a:defRPr sz="1300"/>
            </a:pPr>
            <a:r>
              <a:t>• Bridge extension filed so the MITG PoP does not lapse 9/30</a:t>
            </a:r>
          </a:p>
          <a:p>
            <a:pPr>
              <a:defRPr sz="1300"/>
            </a:pPr>
            <a:r>
              <a:t>• DMID recompete planning underway; Mod #14 precedent risk being tracked</a:t>
            </a:r>
          </a:p>
          <a:p>
            <a:pPr>
              <a:defRPr sz="1300"/>
            </a:pPr>
            <a:r>
              <a:t>• Three active contracts within ceiling; Tailspin fully invoiced and closing</a:t>
            </a:r>
          </a:p>
          <a:p>
            <a:pPr>
              <a:defRPr sz="1300"/>
            </a:pPr>
            <a:r>
              <a:t>• Staffing: one analyst cleared, one on interim pending final clearance</a:t>
            </a:r>
          </a:p>
          <a:p>
            <a:pPr>
              <a:defRPr sz="1300"/>
            </a:pPr>
            <a:r>
              <a:t>• No leadership decision required this week beyond awareness of the data-call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MITG Task Order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Contract MITG-2023-001, Northwind Solutions, T&amp;M, ceiling $2.45M</a:t>
            </a:r>
          </a:p>
          <a:p>
            <a:pPr>
              <a:defRPr sz="1300"/>
            </a:pPr>
            <a:r>
              <a:t>• Obligated $2.18M (89%), invoiced $1.64M to date, remaining $0.54M</a:t>
            </a:r>
          </a:p>
          <a:p>
            <a:pPr>
              <a:defRPr sz="1300"/>
            </a:pPr>
            <a:r>
              <a:t>• Mod #14 adds 2 analysts, 60-day extension, $163K (over-$10K gate cleared by Contracts)</a:t>
            </a:r>
          </a:p>
          <a:p>
            <a:pPr>
              <a:defRPr sz="1300"/>
            </a:pPr>
            <a:r>
              <a:t>• Compliance review in progress, expected to clear Monday with a phased-start condition</a:t>
            </a:r>
          </a:p>
          <a:p>
            <a:pPr>
              <a:defRPr sz="1300"/>
            </a:pPr>
            <a:r>
              <a:t>• Risk: nearing ceiling depending on the option; a funding action may be needed if scope grows</a:t>
            </a:r>
          </a:p>
          <a:p>
            <a:pPr>
              <a:defRPr sz="1300"/>
            </a:pPr>
            <a:r>
              <a:t>• Performance on schedule; deliverables 4 and 5 accepted last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DMID Delivery Order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Contract DMID-2022-014, Contoso Federal, FFP, ceiling $1.875M, fully obligated</a:t>
            </a:r>
          </a:p>
          <a:p>
            <a:pPr>
              <a:defRPr sz="1300"/>
            </a:pPr>
            <a:r>
              <a:t>• Invoiced $1.50M, remaining $0.37M, PoP ends 3/31/2027</a:t>
            </a:r>
          </a:p>
          <a:p>
            <a:pPr>
              <a:defRPr sz="1300"/>
            </a:pPr>
            <a:r>
              <a:t>• Recompete planning underway — sources-sought posted, six responses, draft PWS ~80%</a:t>
            </a:r>
          </a:p>
          <a:p>
            <a:pPr>
              <a:defRPr sz="1300"/>
            </a:pPr>
            <a:r>
              <a:t>• Risk: Mod #14 on MITG could set a precedent we do not want to carry into the recompete</a:t>
            </a:r>
          </a:p>
          <a:p>
            <a:pPr>
              <a:defRPr sz="1300"/>
            </a:pPr>
            <a:r>
              <a:t>• Tailspin DMID-2023-021 fully invoiced and closing out 6/30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Modifications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Mod #12 (pricing-only) closed, 2-day compliance turn</a:t>
            </a:r>
          </a:p>
          <a:p>
            <a:pPr>
              <a:defRPr sz="1300"/>
            </a:pPr>
            <a:r>
              <a:t>• Mod #13 (admin) closed</a:t>
            </a:r>
          </a:p>
          <a:p>
            <a:pPr>
              <a:defRPr sz="1300"/>
            </a:pPr>
            <a:r>
              <a:t>• Mod #14 (scope + PoP, $163K) in Compliance, clears Monday</a:t>
            </a:r>
          </a:p>
          <a:p>
            <a:pPr>
              <a:defRPr sz="1300"/>
            </a:pPr>
            <a:r>
              <a:t>• Mod #15 (scope, TBD) at intake</a:t>
            </a:r>
          </a:p>
          <a:p>
            <a:pPr>
              <a:defRPr sz="1300"/>
            </a:pPr>
            <a:r>
              <a:t>• Process: COR intake, Finance budget, &gt;$10K Contracts approval, Compliance by complexity, recommendation to COR</a:t>
            </a:r>
          </a:p>
          <a:p>
            <a:pPr>
              <a:defRPr sz="1300"/>
            </a:pPr>
            <a:r>
              <a:t>• Standard mods target 2 weeks; complex 3 weeks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&amp; Obligations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MITG obligated ~89% of the $2.45M ceiling; Mod #14 adds $163K — monitor against ceiling</a:t>
            </a:r>
          </a:p>
          <a:p>
            <a:pPr>
              <a:defRPr sz="1300"/>
            </a:pPr>
            <a:r>
              <a:t>• DMID fully obligated; $0.37M remaining to invoice through 3/31/2027</a:t>
            </a:r>
          </a:p>
          <a:p>
            <a:pPr>
              <a:defRPr sz="1300"/>
            </a:pPr>
            <a:r>
              <a:t>• Fabrikam (MITG-2024-009) ~62% obligated; on track</a:t>
            </a:r>
          </a:p>
          <a:p>
            <a:pPr>
              <a:defRPr sz="1300"/>
            </a:pPr>
            <a:r>
              <a:t>• Monthly actuals tracking within +/-18% of plan across active contracts</a:t>
            </a:r>
          </a:p>
          <a:p>
            <a:pPr>
              <a:defRPr sz="1300"/>
            </a:pPr>
            <a:r>
              <a:t>• No anti-deficiency risk identified this period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Audit scope gap identified: third-party vendor assessment not included</a:t>
            </a:r>
          </a:p>
          <a:p>
            <a:pPr>
              <a:defRPr sz="1300"/>
            </a:pPr>
            <a:r>
              <a:t>• Scope revision adds ~1 week; scope call held with Legal/Finance/Audit</a:t>
            </a:r>
          </a:p>
          <a:p>
            <a:pPr>
              <a:defRPr sz="1300"/>
            </a:pPr>
            <a:r>
              <a:t>• Risk: audit kickoff slips 1-2 weeks if revision runs long</a:t>
            </a:r>
          </a:p>
          <a:p>
            <a:pPr>
              <a:defRPr sz="1300"/>
            </a:pPr>
            <a:r>
              <a:t>• Mod #14 flagged complex (scope + timeline) — insurance and rate-table checks in progress</a:t>
            </a:r>
          </a:p>
          <a:p>
            <a:pPr>
              <a:defRPr sz="1300"/>
            </a:pPr>
            <a:r>
              <a:t>• No open findings from the prior period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Staffing &amp; Clearances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Northwind adding 2 analysts under Mod #14</a:t>
            </a:r>
          </a:p>
          <a:p>
            <a:pPr>
              <a:defRPr sz="1300"/>
            </a:pPr>
            <a:r>
              <a:t>• Analyst 1 cleared; Analyst 2 on interim, final expected ~2 weeks</a:t>
            </a:r>
          </a:p>
          <a:p>
            <a:pPr>
              <a:defRPr sz="1300"/>
            </a:pPr>
            <a:r>
              <a:t>• Phased start: cleared analyst begins on award; second on final clearance</a:t>
            </a:r>
          </a:p>
          <a:p>
            <a:pPr>
              <a:defRPr sz="1300"/>
            </a:pPr>
            <a:r>
              <a:t>• Controlled data set access gated on final clearance</a:t>
            </a:r>
          </a:p>
          <a:p>
            <a:pPr>
              <a:defRPr sz="1300"/>
            </a:pPr>
            <a:r>
              <a:t>• COR coverage: Chen (MITG, MITG-2025), Patel (Fabrikam, Tailspin)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OMB data call: Northwind portion outstanding — deadline risk for Friday</a:t>
            </a:r>
          </a:p>
          <a:p>
            <a:pPr>
              <a:defRPr sz="1300"/>
            </a:pPr>
            <a:r>
              <a:t>• Compliance scope revision duration uncertain (audit timeline impact)</a:t>
            </a:r>
          </a:p>
          <a:p>
            <a:pPr>
              <a:defRPr sz="1300"/>
            </a:pPr>
            <a:r>
              <a:t>• Second analyst clearance timing (resource ramp impact)</a:t>
            </a:r>
          </a:p>
          <a:p>
            <a:pPr>
              <a:defRPr sz="1300"/>
            </a:pPr>
            <a:r>
              <a:t>• Recompete precedent risk from Mod #14</a:t>
            </a:r>
          </a:p>
          <a:p>
            <a:pPr>
              <a:defRPr sz="1300"/>
            </a:pPr>
            <a:r>
              <a:t>• Mitigations in place for each; none require board action except the data-call escalation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/ Key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Wednesday EOD: Northwind data-call portion needed or we escalate further</a:t>
            </a:r>
          </a:p>
          <a:p>
            <a:pPr>
              <a:defRPr sz="1300"/>
            </a:pPr>
            <a:r>
              <a:t>• Thursday COB: Finance reconciliation complete for the data call</a:t>
            </a:r>
          </a:p>
          <a:p>
            <a:pPr>
              <a:defRPr sz="1300"/>
            </a:pPr>
            <a:r>
              <a:t>• Friday 3:00: OMB data call response submitted</a:t>
            </a:r>
          </a:p>
          <a:p>
            <a:pPr>
              <a:defRPr sz="1300"/>
            </a:pPr>
            <a:r>
              <a:t>• Monday: expected Mod #14 compliance clearance</a:t>
            </a:r>
          </a:p>
          <a:p>
            <a:pPr>
              <a:defRPr sz="1300"/>
            </a:pPr>
            <a:r>
              <a:t>• 9/30: MITG PoP (bridge extension filed); Q1 FY27: DMID recompete solicitation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 of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Awareness of the OMB data-call deadline risk and the Northwind escalation</a:t>
            </a:r>
          </a:p>
          <a:p>
            <a:pPr>
              <a:defRPr sz="1300"/>
            </a:pPr>
            <a:r>
              <a:t>• Note the audit-kickoff slip risk and the mitigation</a:t>
            </a:r>
          </a:p>
          <a:p>
            <a:pPr>
              <a:defRPr sz="1300"/>
            </a:pPr>
            <a:r>
              <a:t>• Awareness of the recompete precedent consideration on Mod #14</a:t>
            </a:r>
          </a:p>
          <a:p>
            <a:pPr>
              <a:defRPr sz="1300"/>
            </a:pPr>
            <a:r>
              <a:t>• No funding action requested this week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Contract Detail (raw)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See Budget_Tracker.xlsx for line-item ceilings, obligations, invoiced, and remaining</a:t>
            </a:r>
          </a:p>
          <a:p>
            <a:pPr>
              <a:defRPr sz="1300"/>
            </a:pPr>
            <a:r>
              <a:t>• Mods Log maintained separately</a:t>
            </a:r>
          </a:p>
          <a:p>
            <a:pPr>
              <a:defRPr sz="1300"/>
            </a:pPr>
            <a:r>
              <a:t>• All figures fictional and for training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