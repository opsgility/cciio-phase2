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MITG / DMID Quarterly Program Review — Q3 FY26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/>
            </a:pPr>
            <a:r>
              <a:t>• Prepared for program leadership and the portfolio review board</a:t>
            </a:r>
          </a:p>
          <a:p>
            <a:pPr>
              <a:defRPr sz="1300"/>
            </a:pPr>
            <a:r>
              <a:t>• Covers MITG task order, DMID delivery order, modifications pipeline, budget posture, compliance, staffing, and Q1 recompete readiness</a:t>
            </a:r>
          </a:p>
          <a:p>
            <a:pPr>
              <a:defRPr sz="1300"/>
            </a:pPr>
            <a:r>
              <a:t>• FICTIONAL training sample — slides are intentionally overcrowded so you can practice trimming with Copilot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/>
            </a:pPr>
            <a:r>
              <a:t>• Overall status GREEN trending YELLOW on MITG due to open Mod #14 and compliance scope gap</a:t>
            </a:r>
          </a:p>
          <a:p>
            <a:pPr>
              <a:defRPr sz="1300"/>
            </a:pPr>
            <a:r>
              <a:t>• Budget 85% allocated for the quarter; marketing spend pending GC decision (Thursday EOD)</a:t>
            </a:r>
          </a:p>
          <a:p>
            <a:pPr>
              <a:defRPr sz="1300"/>
            </a:pPr>
            <a:r>
              <a:t>• Audit kickoff at risk of 1-2 week slip if scope revision runs long</a:t>
            </a:r>
          </a:p>
          <a:p>
            <a:pPr>
              <a:defRPr sz="1300"/>
            </a:pPr>
            <a:r>
              <a:t>• Bridge extension filed so MITG PoP does not lapse 9/30</a:t>
            </a:r>
          </a:p>
          <a:p>
            <a:pPr>
              <a:defRPr sz="1300"/>
            </a:pPr>
            <a:r>
              <a:t>• Q1 DMID recompete prep underway; Mod #14 precedent risk being tracked</a:t>
            </a:r>
          </a:p>
          <a:p>
            <a:pPr>
              <a:defRPr sz="1300"/>
            </a:pPr>
            <a:r>
              <a:t>• Three contracts within ceiling; one fully invoiced and closing (Tailspin)</a:t>
            </a:r>
          </a:p>
          <a:p>
            <a:pPr>
              <a:defRPr sz="1300"/>
            </a:pPr>
            <a:r>
              <a:t>• Staffing: one analyst cleared, one on interim pending final clearance</a:t>
            </a:r>
          </a:p>
          <a:p>
            <a:pPr>
              <a:defRPr sz="1300"/>
            </a:pPr>
            <a:r>
              <a:t>• No critical issues requiring leadership decision this week except marketing GC sign-off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MITG Task Order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/>
            </a:pPr>
            <a:r>
              <a:t>• Contract MITG-2023-001, Northwind Solutions, T&amp;M, ceiling $2.45M</a:t>
            </a:r>
          </a:p>
          <a:p>
            <a:pPr>
              <a:defRPr sz="1300"/>
            </a:pPr>
            <a:r>
              <a:t>• Obligated $2.18M (89%), invoiced $1.64M to date, remaining $0.54M</a:t>
            </a:r>
          </a:p>
          <a:p>
            <a:pPr>
              <a:defRPr sz="1300"/>
            </a:pPr>
            <a:r>
              <a:t>• Mod #14 adds 2 analysts, 60-day extension, $163K (over-$10K gate cleared by Contracts)</a:t>
            </a:r>
          </a:p>
          <a:p>
            <a:pPr>
              <a:defRPr sz="1300"/>
            </a:pPr>
            <a:r>
              <a:t>• Compliance review in progress, expected clear Monday with phased-start condition</a:t>
            </a:r>
          </a:p>
          <a:p>
            <a:pPr>
              <a:defRPr sz="1300"/>
            </a:pPr>
            <a:r>
              <a:t>• Risk: at ~88-92% of ceiling depending on option; funding action may be needed if scope grows</a:t>
            </a:r>
          </a:p>
          <a:p>
            <a:pPr>
              <a:defRPr sz="1300"/>
            </a:pPr>
            <a:r>
              <a:t>• Performance on schedule; deliverables 4 and 5 accepted last period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DMID Delivery Order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/>
            </a:pPr>
            <a:r>
              <a:t>• Contract DMID-2022-014, Contoso Federal, FFP, ceiling $1.875M, fully obligated</a:t>
            </a:r>
          </a:p>
          <a:p>
            <a:pPr>
              <a:defRPr sz="1300"/>
            </a:pPr>
            <a:r>
              <a:t>• Invoiced $1.50M, remaining $0.37M, PoP ends 3/31/2027</a:t>
            </a:r>
          </a:p>
          <a:p>
            <a:pPr>
              <a:defRPr sz="1300"/>
            </a:pPr>
            <a:r>
              <a:t>• Recompete planning for Q1 — market research underway, draft PWS in progress</a:t>
            </a:r>
          </a:p>
          <a:p>
            <a:pPr>
              <a:defRPr sz="1300"/>
            </a:pPr>
            <a:r>
              <a:t>• Risk: Mod #14 on MITG could set a precedent we don't want to carry into the recompete</a:t>
            </a:r>
          </a:p>
          <a:p>
            <a:pPr>
              <a:defRPr sz="1300"/>
            </a:pPr>
            <a:r>
              <a:t>• Tailspin DMID-2023-021 fully invoiced and closing out 6/30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Modifications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/>
            </a:pPr>
            <a:r>
              <a:t>• Mod #12 (pricing-only) closed, 2-day compliance turn</a:t>
            </a:r>
          </a:p>
          <a:p>
            <a:pPr>
              <a:defRPr sz="1300"/>
            </a:pPr>
            <a:r>
              <a:t>• Mod #13 (admin) closed</a:t>
            </a:r>
          </a:p>
          <a:p>
            <a:pPr>
              <a:defRPr sz="1300"/>
            </a:pPr>
            <a:r>
              <a:t>• Mod #14 (scope + PoP, $163K) in Compliance, clears Monday</a:t>
            </a:r>
          </a:p>
          <a:p>
            <a:pPr>
              <a:defRPr sz="1300"/>
            </a:pPr>
            <a:r>
              <a:t>• Mod #15 (scope, TBD) at intake</a:t>
            </a:r>
          </a:p>
          <a:p>
            <a:pPr>
              <a:defRPr sz="1300"/>
            </a:pPr>
            <a:r>
              <a:t>• Process: COR intake, Finance budget, &gt;$10K Contracts approval, Compliance by complexity, recommendation to COR</a:t>
            </a:r>
          </a:p>
          <a:p>
            <a:pPr>
              <a:defRPr sz="1300"/>
            </a:pPr>
            <a:r>
              <a:t>• Standard mods target 2 weeks; complex 3 weeks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Budget Posture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/>
            </a:pPr>
            <a:r>
              <a:t>• Q3 allocations 85% complete; final approval expected Friday EOD</a:t>
            </a:r>
          </a:p>
          <a:p>
            <a:pPr>
              <a:defRPr sz="1300"/>
            </a:pPr>
            <a:r>
              <a:t>• Infrastructure $45K approved; HR training $20K approved; Marketing $60K pending GC</a:t>
            </a:r>
          </a:p>
          <a:p>
            <a:pPr>
              <a:defRPr sz="1300"/>
            </a:pPr>
            <a:r>
              <a:t>• Monthly actuals tracking within +/-18% of plan across three active contracts</a:t>
            </a:r>
          </a:p>
          <a:p>
            <a:pPr>
              <a:defRPr sz="1300"/>
            </a:pPr>
            <a:r>
              <a:t>• MITG nearing ceiling — monitor obligations against Mod #14 option chosen</a:t>
            </a:r>
          </a:p>
          <a:p>
            <a:pPr>
              <a:defRPr sz="1300"/>
            </a:pPr>
            <a:r>
              <a:t>• No anti-deficiency risk identified this period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Compliance &amp;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/>
            </a:pPr>
            <a:r>
              <a:t>• Audit scope gap identified: third-party vendor assessment not included</a:t>
            </a:r>
          </a:p>
          <a:p>
            <a:pPr>
              <a:defRPr sz="1300"/>
            </a:pPr>
            <a:r>
              <a:t>• Scope revision adds ~1 week; scope call held with Legal/Finance/Audit</a:t>
            </a:r>
          </a:p>
          <a:p>
            <a:pPr>
              <a:defRPr sz="1300"/>
            </a:pPr>
            <a:r>
              <a:t>• Risk: audit kickoff slips 1-2 weeks if revision runs long</a:t>
            </a:r>
          </a:p>
          <a:p>
            <a:pPr>
              <a:defRPr sz="1300"/>
            </a:pPr>
            <a:r>
              <a:t>• Mod #14 flagged complex (scope + timeline) — insurance and rate-table checks in progress</a:t>
            </a:r>
          </a:p>
          <a:p>
            <a:pPr>
              <a:defRPr sz="1300"/>
            </a:pPr>
            <a:r>
              <a:t>• No open findings from prior period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Staffing &amp; Clearances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/>
            </a:pPr>
            <a:r>
              <a:t>• Northwind adding 2 analysts under Mod #14</a:t>
            </a:r>
          </a:p>
          <a:p>
            <a:pPr>
              <a:defRPr sz="1300"/>
            </a:pPr>
            <a:r>
              <a:t>• Analyst 1 cleared; Analyst 2 on interim, final expected ~2 weeks</a:t>
            </a:r>
          </a:p>
          <a:p>
            <a:pPr>
              <a:defRPr sz="1300"/>
            </a:pPr>
            <a:r>
              <a:t>• Phased start: cleared analyst begins on award; second on final clearance</a:t>
            </a:r>
          </a:p>
          <a:p>
            <a:pPr>
              <a:defRPr sz="1300"/>
            </a:pPr>
            <a:r>
              <a:t>• Controlled data set access gated on final clearance</a:t>
            </a:r>
          </a:p>
          <a:p>
            <a:pPr>
              <a:defRPr sz="1300"/>
            </a:pPr>
            <a:r>
              <a:t>• COR coverage: Chen (MITG, MITG-2025), Patel (Fabrikam, Tailspin)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Risks &amp; Issues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/>
            </a:pPr>
            <a:r>
              <a:t>• Legal/GC decision on marketing spend could slip past Thursday (budget impact)</a:t>
            </a:r>
          </a:p>
          <a:p>
            <a:pPr>
              <a:defRPr sz="1300"/>
            </a:pPr>
            <a:r>
              <a:t>• Compliance scope revision duration uncertain (audit timeline impact)</a:t>
            </a:r>
          </a:p>
          <a:p>
            <a:pPr>
              <a:defRPr sz="1300"/>
            </a:pPr>
            <a:r>
              <a:t>• Second analyst clearance timing (resource ramp impact)</a:t>
            </a:r>
          </a:p>
          <a:p>
            <a:pPr>
              <a:defRPr sz="1300"/>
            </a:pPr>
            <a:r>
              <a:t>• Recompete precedent risk from Mod #14</a:t>
            </a:r>
          </a:p>
          <a:p>
            <a:pPr>
              <a:defRPr sz="1300"/>
            </a:pPr>
            <a:r>
              <a:t>• Mitigations in place for each; none require board action except GC follow-up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Timeline / Key 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/>
            </a:pPr>
            <a:r>
              <a:t>• Thursday EOD: GC decision on marketing spend</a:t>
            </a:r>
          </a:p>
          <a:p>
            <a:pPr>
              <a:defRPr sz="1300"/>
            </a:pPr>
            <a:r>
              <a:t>• Friday EOD: final Q3 budget approval; revised compliance scope due</a:t>
            </a:r>
          </a:p>
          <a:p>
            <a:pPr>
              <a:defRPr sz="1300"/>
            </a:pPr>
            <a:r>
              <a:t>• Monday: expected Mod #14 compliance clearance</a:t>
            </a:r>
          </a:p>
          <a:p>
            <a:pPr>
              <a:defRPr sz="1300"/>
            </a:pPr>
            <a:r>
              <a:t>• 9/30: MITG PoP (bridge extension filed)</a:t>
            </a:r>
          </a:p>
          <a:p>
            <a:pPr>
              <a:defRPr sz="1300"/>
            </a:pPr>
            <a:r>
              <a:t>• Q1 FY27: DMID recompete solicitation target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Asks of Leadership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/>
            </a:pPr>
            <a:r>
              <a:t>• Endorse proceeding with non-marketing approvals now</a:t>
            </a:r>
          </a:p>
          <a:p>
            <a:pPr>
              <a:defRPr sz="1300"/>
            </a:pPr>
            <a:r>
              <a:t>• Note the audit-kickoff slip risk and the mitigation</a:t>
            </a:r>
          </a:p>
          <a:p>
            <a:pPr>
              <a:defRPr sz="1300"/>
            </a:pPr>
            <a:r>
              <a:t>• Awareness of the recompete precedent consideration on Mod #14</a:t>
            </a:r>
          </a:p>
          <a:p>
            <a:pPr>
              <a:defRPr sz="1300"/>
            </a:pPr>
            <a:r>
              <a:t>• No funding action requested this week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Appendix — Contract Detail (raw)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/>
            </a:pPr>
            <a:r>
              <a:t>• See Budget_Tracker.xlsx for line-item ceilings, obligations, invoiced, and remaining</a:t>
            </a:r>
          </a:p>
          <a:p>
            <a:pPr>
              <a:defRPr sz="1300"/>
            </a:pPr>
            <a:r>
              <a:t>• Mods Log maintained separately</a:t>
            </a:r>
          </a:p>
          <a:p>
            <a:pPr>
              <a:defRPr sz="1300"/>
            </a:pPr>
            <a:r>
              <a:t>• All figures fictional and for training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